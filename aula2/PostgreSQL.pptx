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swald Bold" charset="1" panose="00000800000000000000"/>
      <p:regular r:id="rId18"/>
    </p:embeddedFont>
    <p:embeddedFont>
      <p:font typeface="DM Sans" charset="1" panose="00000000000000000000"/>
      <p:regular r:id="rId19"/>
    </p:embeddedFont>
    <p:embeddedFont>
      <p:font typeface="Oswald" charset="1" panose="00000500000000000000"/>
      <p:regular r:id="rId20"/>
    </p:embeddedFont>
    <p:embeddedFont>
      <p:font typeface="Arimo" charset="1" panose="020B0604020202020204"/>
      <p:regular r:id="rId21"/>
    </p:embeddedFont>
    <p:embeddedFont>
      <p:font typeface="Open Sans" charset="1" panose="020B06060305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https://www.bing.com/ck/a?!&amp;&amp;p=a9b5b0c840b542de69e6004184f45bdbe7953a9b1c4cf3efa78971533a63a2d1JmltdHM9MTc2NDAyODgwMA&amp;ptn=3&amp;ver=2&amp;hsh=4&amp;fclid=1d3dc773-0100-6f86-2407-d12700b16e9c&amp;u=a1aHR0cHM6Ly93d3cudGltYmlyYS5jb20uYnIvcm9hZG1hcC1kZS1taWdyYWNhby1wYXNzb3MtZXN0cmF0ZWdpY29zLXBhcmEtbWlncmFyLWRlLW91dHJvcy1zZ2Jkcy1wYXJhLXBvc3RncmVzcWwv&amp;ntb=1" TargetMode="External" Type="http://schemas.openxmlformats.org/officeDocument/2006/relationships/hyperlink"/><Relationship Id="rId5" Target="https://www.bing.com/ck/a?!&amp;&amp;p=a9b5b0c840b542de69e6004184f45bdbe7953a9b1c4cf3efa78971533a63a2d1JmltdHM9MTc2NDAyODgwMA&amp;ptn=3&amp;ver=2&amp;hsh=4&amp;fclid=1d3dc773-0100-6f86-2407-d12700b16e9c&amp;u=a1aHR0cHM6Ly93d3cudGltYmlyYS5jb20uYnIvcm9hZG1hcC1kZS1taWdyYWNhby1wYXNzb3MtZXN0cmF0ZWdpY29zLXBhcmEtbWlncmFyLWRlLW91dHJvcy1zZ2Jkcy1wYXJhLXBvc3RncmVzcWwv&amp;ntb=1" TargetMode="External" Type="http://schemas.openxmlformats.org/officeDocument/2006/relationships/hyperlink"/><Relationship Id="rId6" Target="../media/image6.jpeg" Type="http://schemas.openxmlformats.org/officeDocument/2006/relationships/image"/><Relationship Id="rId7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https://youtube.com/shorts/RctRuV8hObw?si=5Kx89Pml05UqQY5J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59121">
            <a:off x="10659648" y="2831894"/>
            <a:ext cx="12525650" cy="12852812"/>
          </a:xfrm>
          <a:custGeom>
            <a:avLst/>
            <a:gdLst/>
            <a:ahLst/>
            <a:cxnLst/>
            <a:rect r="r" b="b" t="t" l="l"/>
            <a:pathLst>
              <a:path h="12852812" w="12525650">
                <a:moveTo>
                  <a:pt x="0" y="0"/>
                </a:moveTo>
                <a:lnTo>
                  <a:pt x="12525649" y="0"/>
                </a:lnTo>
                <a:lnTo>
                  <a:pt x="12525649" y="12852812"/>
                </a:lnTo>
                <a:lnTo>
                  <a:pt x="0" y="12852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805786" y="-7392626"/>
            <a:ext cx="13641413" cy="13997719"/>
          </a:xfrm>
          <a:custGeom>
            <a:avLst/>
            <a:gdLst/>
            <a:ahLst/>
            <a:cxnLst/>
            <a:rect r="r" b="b" t="t" l="l"/>
            <a:pathLst>
              <a:path h="13997719" w="13641413">
                <a:moveTo>
                  <a:pt x="0" y="0"/>
                </a:moveTo>
                <a:lnTo>
                  <a:pt x="13641413" y="0"/>
                </a:lnTo>
                <a:lnTo>
                  <a:pt x="13641413" y="13997719"/>
                </a:lnTo>
                <a:lnTo>
                  <a:pt x="0" y="13997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236347" y="3560059"/>
            <a:ext cx="9815307" cy="3851055"/>
            <a:chOff x="0" y="0"/>
            <a:chExt cx="1895495" cy="7437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95495" cy="743701"/>
            </a:xfrm>
            <a:custGeom>
              <a:avLst/>
              <a:gdLst/>
              <a:ahLst/>
              <a:cxnLst/>
              <a:rect r="r" b="b" t="t" l="l"/>
              <a:pathLst>
                <a:path h="743701" w="1895495">
                  <a:moveTo>
                    <a:pt x="0" y="0"/>
                  </a:moveTo>
                  <a:lnTo>
                    <a:pt x="1895495" y="0"/>
                  </a:lnTo>
                  <a:lnTo>
                    <a:pt x="1895495" y="743701"/>
                  </a:lnTo>
                  <a:lnTo>
                    <a:pt x="0" y="743701"/>
                  </a:ln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DFBFB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895495" cy="7627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236347" y="4045332"/>
            <a:ext cx="9815307" cy="199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37"/>
              </a:lnSpc>
            </a:pPr>
            <a:r>
              <a:rPr lang="en-US" b="true" sz="11838" spc="1160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POSTGRESQL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6825" y="6287564"/>
            <a:ext cx="12754350" cy="577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88"/>
              </a:lnSpc>
              <a:spcBef>
                <a:spcPct val="0"/>
              </a:spcBef>
            </a:pPr>
            <a:r>
              <a:rPr lang="en-US" sz="3469" spc="340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Felipe Cardoso e João Borba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66825" y="3028950"/>
            <a:ext cx="12754350" cy="569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4"/>
              </a:lnSpc>
              <a:spcBef>
                <a:spcPct val="0"/>
              </a:spcBef>
            </a:pPr>
            <a:r>
              <a:rPr lang="en-US" sz="3300" spc="32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O PostgreSQL é um poderoso sistema de banco de dados objeto-relacional de código aberto que utiliza e estende a linguagem SQL, combinada com diversos recursos que permitem armazenar e dimensionar com segurança as cargas de trabalho de dados mais complexas. As origens do PostgreSQL remontam a 1986, como parte do projeto POSTGRES na Universidade da Califórnia em Berkeley, e contam com quase 40 anos de desenvolvimento ativo em sua plataforma principal.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11587" y="1624211"/>
            <a:ext cx="10464826" cy="940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3"/>
              </a:lnSpc>
              <a:spcBef>
                <a:spcPct val="0"/>
              </a:spcBef>
            </a:pPr>
            <a:r>
              <a:rPr lang="en-US" b="true" sz="5524" spc="541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O QUE É O </a:t>
            </a:r>
            <a:r>
              <a:rPr lang="en-US" b="true" sz="5524" spc="541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POSTGRESQL?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18952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09689" y="-5566217"/>
            <a:ext cx="11461151" cy="11760509"/>
          </a:xfrm>
          <a:custGeom>
            <a:avLst/>
            <a:gdLst/>
            <a:ahLst/>
            <a:cxnLst/>
            <a:rect r="r" b="b" t="t" l="l"/>
            <a:pathLst>
              <a:path h="11760509" w="11461151">
                <a:moveTo>
                  <a:pt x="0" y="0"/>
                </a:moveTo>
                <a:lnTo>
                  <a:pt x="11461151" y="0"/>
                </a:lnTo>
                <a:lnTo>
                  <a:pt x="11461151" y="11760509"/>
                </a:lnTo>
                <a:lnTo>
                  <a:pt x="0" y="11760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42191" y="3396305"/>
            <a:ext cx="9051292" cy="2797987"/>
            <a:chOff x="0" y="0"/>
            <a:chExt cx="3467989" cy="10721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67989" cy="1072189"/>
            </a:xfrm>
            <a:custGeom>
              <a:avLst/>
              <a:gdLst/>
              <a:ahLst/>
              <a:cxnLst/>
              <a:rect r="r" b="b" t="t" l="l"/>
              <a:pathLst>
                <a:path h="1072189" w="3467989">
                  <a:moveTo>
                    <a:pt x="3467989" y="30792"/>
                  </a:moveTo>
                  <a:lnTo>
                    <a:pt x="3467989" y="1041396"/>
                  </a:lnTo>
                  <a:cubicBezTo>
                    <a:pt x="3467989" y="1058402"/>
                    <a:pt x="3454203" y="1072189"/>
                    <a:pt x="3437197" y="1072189"/>
                  </a:cubicBezTo>
                  <a:lnTo>
                    <a:pt x="30792" y="1072189"/>
                  </a:lnTo>
                  <a:cubicBezTo>
                    <a:pt x="13786" y="1072189"/>
                    <a:pt x="0" y="1058402"/>
                    <a:pt x="0" y="1041396"/>
                  </a:cubicBezTo>
                  <a:lnTo>
                    <a:pt x="0" y="30792"/>
                  </a:lnTo>
                  <a:cubicBezTo>
                    <a:pt x="0" y="13786"/>
                    <a:pt x="13786" y="0"/>
                    <a:pt x="30792" y="0"/>
                  </a:cubicBezTo>
                  <a:lnTo>
                    <a:pt x="3437197" y="0"/>
                  </a:lnTo>
                  <a:cubicBezTo>
                    <a:pt x="3454203" y="0"/>
                    <a:pt x="3467989" y="13786"/>
                    <a:pt x="3467989" y="30792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467989" cy="10912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4182760" y="6206072"/>
            <a:ext cx="11461151" cy="11760509"/>
          </a:xfrm>
          <a:custGeom>
            <a:avLst/>
            <a:gdLst/>
            <a:ahLst/>
            <a:cxnLst/>
            <a:rect r="r" b="b" t="t" l="l"/>
            <a:pathLst>
              <a:path h="11760509" w="11461151">
                <a:moveTo>
                  <a:pt x="0" y="0"/>
                </a:moveTo>
                <a:lnTo>
                  <a:pt x="11461151" y="0"/>
                </a:lnTo>
                <a:lnTo>
                  <a:pt x="11461151" y="11760509"/>
                </a:lnTo>
                <a:lnTo>
                  <a:pt x="0" y="11760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66424" y="2440470"/>
            <a:ext cx="5392876" cy="6817830"/>
          </a:xfrm>
          <a:custGeom>
            <a:avLst/>
            <a:gdLst/>
            <a:ahLst/>
            <a:cxnLst/>
            <a:rect r="r" b="b" t="t" l="l"/>
            <a:pathLst>
              <a:path h="6817830" w="5392876">
                <a:moveTo>
                  <a:pt x="0" y="0"/>
                </a:moveTo>
                <a:lnTo>
                  <a:pt x="5392876" y="0"/>
                </a:lnTo>
                <a:lnTo>
                  <a:pt x="5392876" y="6817830"/>
                </a:lnTo>
                <a:lnTo>
                  <a:pt x="0" y="6817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922" t="0" r="-3072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42191" y="1798959"/>
            <a:ext cx="8323558" cy="116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7"/>
              </a:lnSpc>
            </a:pPr>
            <a:r>
              <a:rPr lang="en-US" b="true" sz="6947" spc="680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QUEM CRIOU?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71799" y="3483972"/>
            <a:ext cx="8566845" cy="2756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3"/>
              </a:lnSpc>
              <a:spcBef>
                <a:spcPct val="0"/>
              </a:spcBef>
            </a:pPr>
            <a:r>
              <a:rPr lang="en-US" sz="2655" spc="26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O PostgreSQL foi desenvolvido no Departamento de Ciência da Computação da Universidade da Califórnia em Berkeley. O criador do projeto POSTGRES é o Professor Michael Stonebraker, criado em 8 de julho de 1996.</a:t>
            </a:r>
          </a:p>
        </p:txBody>
      </p:sp>
    </p:spTree>
  </p:cSld>
  <p:clrMapOvr>
    <a:masterClrMapping/>
  </p:clrMapOvr>
  <p:transition spd="fast">
    <p:cover dir="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3459" y="3290898"/>
            <a:ext cx="15761081" cy="626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4"/>
              </a:lnSpc>
            </a:pPr>
            <a:r>
              <a:rPr lang="en-US" sz="3300" spc="32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O PostgreSQL oferece </a:t>
            </a:r>
            <a:r>
              <a:rPr lang="en-US" sz="3300" spc="323" u="none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diversos recursos</a:t>
            </a:r>
            <a:r>
              <a:rPr lang="en-US" sz="3300" spc="32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 que visam auxiliar desenvolvedores na criação de aplicações, administradores na proteção da integridade dos dados e na construção de ambientes tolerantes a falhas, além de ajudar você a gerenciar seus dados, independentemente do tamanho do conjunto de dados. Além de ser </a:t>
            </a:r>
            <a:r>
              <a:rPr lang="en-US" sz="3300" spc="323" u="none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gratuito e de </a:t>
            </a:r>
            <a:r>
              <a:rPr lang="en-US" sz="3300" spc="32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código </a:t>
            </a:r>
            <a:r>
              <a:rPr lang="en-US" sz="3300" spc="323" u="none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aberto</a:t>
            </a:r>
            <a:r>
              <a:rPr lang="en-US" sz="3300" spc="32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, o PostgreSQL é altamente extensível. Por exemplo, você pode definir seus próprios tipos de dados, criar funções personalizadas e até mesmo escrever código em </a:t>
            </a:r>
            <a:r>
              <a:rPr lang="en-US" sz="3300" spc="323" u="none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diferentes linguagens de programação</a:t>
            </a:r>
            <a:r>
              <a:rPr lang="en-US" sz="3300" spc="32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 sem precisar recompilar seu banco de dados!</a:t>
            </a:r>
          </a:p>
          <a:p>
            <a:pPr algn="ctr" marL="0" indent="0" lvl="0">
              <a:lnSpc>
                <a:spcPts val="4554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691208" y="2026745"/>
            <a:ext cx="12905585" cy="940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3"/>
              </a:lnSpc>
              <a:spcBef>
                <a:spcPct val="0"/>
              </a:spcBef>
            </a:pPr>
            <a:r>
              <a:rPr lang="en-US" b="true" sz="5524" spc="541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CARACTERÍSTICAS DO POSTGRESQL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18952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18952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919681" y="3086100"/>
            <a:ext cx="12145193" cy="4217849"/>
            <a:chOff x="0" y="0"/>
            <a:chExt cx="2345434" cy="8145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5434" cy="814535"/>
            </a:xfrm>
            <a:custGeom>
              <a:avLst/>
              <a:gdLst/>
              <a:ahLst/>
              <a:cxnLst/>
              <a:rect r="r" b="b" t="t" l="l"/>
              <a:pathLst>
                <a:path h="814535" w="2345434">
                  <a:moveTo>
                    <a:pt x="0" y="0"/>
                  </a:moveTo>
                  <a:lnTo>
                    <a:pt x="2345434" y="0"/>
                  </a:lnTo>
                  <a:lnTo>
                    <a:pt x="2345434" y="814535"/>
                  </a:lnTo>
                  <a:lnTo>
                    <a:pt x="0" y="8145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DFBFB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45434" cy="833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156145" y="3344476"/>
            <a:ext cx="11702084" cy="355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4"/>
              </a:lnSpc>
            </a:pPr>
            <a:r>
              <a:rPr lang="en-US" sz="2605" spc="255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  <a:hlinkClick r:id="rId4" tooltip="https://www.bing.com/ck/a?!&amp;&amp;p=a9b5b0c840b542de69e6004184f45bdbe7953a9b1c4cf3efa78971533a63a2d1JmltdHM9MTc2NDAyODgwMA&amp;ptn=3&amp;ver=2&amp;hsh=4&amp;fclid=1d3dc773-0100-6f86-2407-d12700b16e9c&amp;u=a1aHR0cHM6Ly93d3cudGltYmlyYS5jb20uYnIvcm9hZG1hcC1kZS1taWdyYWNhby1wYXNzb3MtZXN0cmF0ZWdpY29zLXBhcmEtbWlncmFyLWRlLW91dHJvcy1zZ2Jkcy1wYXJhLXBvc3RncmVzcWwv&amp;ntb=1"/>
              </a:rPr>
              <a:t>O PostgreSQL se destaca em comparação com outros SGBDs por sua </a:t>
            </a:r>
            <a:r>
              <a:rPr lang="en-US" sz="2605" spc="255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  <a:hlinkClick r:id="rId5" tooltip="https://www.bing.com/ck/a?!&amp;&amp;p=a9b5b0c840b542de69e6004184f45bdbe7953a9b1c4cf3efa78971533a63a2d1JmltdHM9MTc2NDAyODgwMA&amp;ptn=3&amp;ver=2&amp;hsh=4&amp;fclid=1d3dc773-0100-6f86-2407-d12700b16e9c&amp;u=a1aHR0cHM6Ly93d3cudGltYmlyYS5jb20uYnIvcm9hZG1hcC1kZS1taWdyYWNhby1wYXNzb3MtZXN0cmF0ZWdpY29zLXBhcmEtbWlncmFyLWRlLW91dHJvcy1zZ2Jkcy1wYXJhLXBvc3RncmVzcWwv&amp;ntb=1"/>
              </a:rPr>
              <a:t>conformidade abrangente com o SQL, escalabilidade, desempenho e eficiência de custos. Essas características o tornam uma escolha popular entre desenvolvedores e administradores de banco de dados. O PostgreSQL é um sistema de banco de dados extremamente robusto, capaz de suportar um grande volume de dados, com baixo custo de manutenção e alta estabilidade.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077121" y="6892529"/>
            <a:ext cx="4473739" cy="2808103"/>
          </a:xfrm>
          <a:custGeom>
            <a:avLst/>
            <a:gdLst/>
            <a:ahLst/>
            <a:cxnLst/>
            <a:rect r="r" b="b" t="t" l="l"/>
            <a:pathLst>
              <a:path h="2808103" w="4473739">
                <a:moveTo>
                  <a:pt x="0" y="0"/>
                </a:moveTo>
                <a:lnTo>
                  <a:pt x="4473739" y="0"/>
                </a:lnTo>
                <a:lnTo>
                  <a:pt x="4473739" y="2808104"/>
                </a:lnTo>
                <a:lnTo>
                  <a:pt x="0" y="28081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56" t="0" r="-1756" b="-994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77121" y="6892529"/>
            <a:ext cx="5100213" cy="3053504"/>
          </a:xfrm>
          <a:custGeom>
            <a:avLst/>
            <a:gdLst/>
            <a:ahLst/>
            <a:cxnLst/>
            <a:rect r="r" b="b" t="t" l="l"/>
            <a:pathLst>
              <a:path h="3053504" w="5100213">
                <a:moveTo>
                  <a:pt x="0" y="0"/>
                </a:moveTo>
                <a:lnTo>
                  <a:pt x="5100213" y="0"/>
                </a:lnTo>
                <a:lnTo>
                  <a:pt x="5100213" y="3053505"/>
                </a:lnTo>
                <a:lnTo>
                  <a:pt x="0" y="30535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90980" y="1232286"/>
            <a:ext cx="10906040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DIFERENCIAL</a:t>
            </a:r>
          </a:p>
        </p:txBody>
      </p:sp>
    </p:spTree>
  </p:cSld>
  <p:clrMapOvr>
    <a:masterClrMapping/>
  </p:clrMapOvr>
  <p:transition spd="fast">
    <p:cover dir="d"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0" y="0"/>
          <a:ext cx="18288000" cy="10287000"/>
        </p:xfrm>
        <a:graphic>
          <a:graphicData uri="http://schemas.openxmlformats.org/drawingml/2006/table">
            <a:tbl>
              <a:tblPr/>
              <a:tblGrid>
                <a:gridCol w="1921049"/>
                <a:gridCol w="3273390"/>
                <a:gridCol w="3273390"/>
                <a:gridCol w="3273390"/>
                <a:gridCol w="3273390"/>
                <a:gridCol w="3273390"/>
              </a:tblGrid>
              <a:tr h="8465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Característica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PostgreSQL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MySQL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Microsoft SQL Server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Oracle Database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MongoDB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333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Tipo de Banco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Relacional (Objeto-Relacional)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Relacional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Relacional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Relacional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Documento (NoSQL)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65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Licença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Open Source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Open Source/Comercial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Comercial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Comercial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Open Source/Comercial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01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Desempenho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Excelente em consultas complexas/leitura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Muito rápido em transações simples (OLTP)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Excelente, especialmente em ambientes MS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Excelente, otimizado para qualquer carga de trabalho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Rápido para inserções/leituras de documentos (simples)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69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Segurança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Muito Alta (Recursos robustos e auditoria)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Boa (Requer configuração rigorosa de permissões)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Alta (Integração forte com AD, recursos corporativos)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Mais Alta (Recursos de segurança e conformidade de nível militar)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Média/Alta (Requer configuração de autenticação, criptografia)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01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Foco Principal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Integridade/Funcionalidades Avançadas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Aplicações Web/Transações Simples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Aplicações Empresariais (Ecossistema MS)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Aplicações de Missão Crítica (Grande Escala)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Dados Flexíveis/Alto Volume de Escrita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2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Custo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Grátis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Grátis ou Pago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Pago (Geralmente Alto)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Pago (Alto)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Grátis ou Pago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over dir="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34921" y="3746567"/>
            <a:ext cx="15218157" cy="512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4"/>
              </a:lnSpc>
            </a:pPr>
            <a:r>
              <a:rPr lang="en-US" sz="3300" spc="32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Para instalar o postgreSQL acesse o link</a:t>
            </a:r>
          </a:p>
          <a:p>
            <a:pPr algn="ctr">
              <a:lnSpc>
                <a:spcPts val="4554"/>
              </a:lnSpc>
            </a:pPr>
            <a:r>
              <a:rPr lang="en-US" sz="3300" spc="32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https://www.postgresql.org/download/</a:t>
            </a:r>
          </a:p>
          <a:p>
            <a:pPr algn="ctr">
              <a:lnSpc>
                <a:spcPts val="4554"/>
              </a:lnSpc>
            </a:pPr>
            <a:r>
              <a:rPr lang="en-US" sz="3300" spc="32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 baixe a versão para seu sistema operacional (windows, MacOS, Linux (qualquer distro), BSD (qualquer distro) ou o Solaris (atualmente sem suporte à pacotes binários pré-compilados, para instalar é necessário compilar o código fonte).</a:t>
            </a:r>
          </a:p>
          <a:p>
            <a:pPr algn="ctr" marL="0" indent="0" lvl="0">
              <a:lnSpc>
                <a:spcPts val="4554"/>
              </a:lnSpc>
              <a:spcBef>
                <a:spcPct val="0"/>
              </a:spcBef>
            </a:pPr>
            <a:r>
              <a:rPr lang="en-US" sz="3300" spc="32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Depois de instalado para criar basta rodar o comando ‘CREATE DATABASE nome_do_banco’ na linha de comando do SQL Shell (psql).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60779" y="2297992"/>
            <a:ext cx="9966442" cy="940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3"/>
              </a:lnSpc>
              <a:spcBef>
                <a:spcPct val="0"/>
              </a:spcBef>
            </a:pPr>
            <a:r>
              <a:rPr lang="en-US" b="true" sz="5524" spc="541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COMO UTILIZAR?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603422" y="-45769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66552" y="-32901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0072" y="1636238"/>
            <a:ext cx="16767856" cy="7044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7"/>
              </a:lnSpc>
            </a:pPr>
            <a:r>
              <a:rPr lang="en-US" sz="3099" spc="30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ABORT = desfaz imediatamente a transação corrente, diferente do padrão SQL que usa apenas ROLLBACK</a:t>
            </a:r>
          </a:p>
          <a:p>
            <a:pPr algn="ctr">
              <a:lnSpc>
                <a:spcPts val="4277"/>
              </a:lnSpc>
            </a:pPr>
            <a:r>
              <a:rPr lang="en-US" sz="3099" spc="30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ALTER AGGREGATE = permite modificar funções de agregação já existentes.</a:t>
            </a:r>
          </a:p>
          <a:p>
            <a:pPr algn="ctr">
              <a:lnSpc>
                <a:spcPts val="4277"/>
              </a:lnSpc>
            </a:pPr>
            <a:r>
              <a:rPr lang="en-US" sz="3099" spc="30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CREATE AGGREGATE = criação de funções de agregação personalizadas.</a:t>
            </a:r>
          </a:p>
          <a:p>
            <a:pPr algn="ctr">
              <a:lnSpc>
                <a:spcPts val="4277"/>
              </a:lnSpc>
            </a:pPr>
            <a:r>
              <a:rPr lang="en-US" sz="3099" spc="30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CREATE EVENT TRIGGER = cria gatilhos que respondem a eventos de DDL (como criação de tabelas).</a:t>
            </a:r>
          </a:p>
          <a:p>
            <a:pPr algn="ctr">
              <a:lnSpc>
                <a:spcPts val="4277"/>
              </a:lnSpc>
            </a:pPr>
            <a:r>
              <a:rPr lang="en-US" sz="3099" spc="30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ALTER EVENT TRIGGER = modifica gatilhos de evento.</a:t>
            </a:r>
          </a:p>
          <a:p>
            <a:pPr algn="ctr">
              <a:lnSpc>
                <a:spcPts val="4277"/>
              </a:lnSpc>
            </a:pPr>
            <a:r>
              <a:rPr lang="en-US" sz="3099" spc="30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VACUUM = limpa registros mortos e otimiza tabelas.</a:t>
            </a:r>
          </a:p>
          <a:p>
            <a:pPr algn="ctr">
              <a:lnSpc>
                <a:spcPts val="4277"/>
              </a:lnSpc>
            </a:pPr>
            <a:r>
              <a:rPr lang="en-US" sz="3099" spc="30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ANALYZE = coleta estatísticas para o otimizador de consultas.</a:t>
            </a:r>
          </a:p>
          <a:p>
            <a:pPr algn="ctr">
              <a:lnSpc>
                <a:spcPts val="4277"/>
              </a:lnSpc>
            </a:pPr>
            <a:r>
              <a:rPr lang="en-US" sz="3099" spc="30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REINDEX = recria índices corrompidos ou ineficientes.</a:t>
            </a:r>
          </a:p>
          <a:p>
            <a:pPr algn="ctr">
              <a:lnSpc>
                <a:spcPts val="4277"/>
              </a:lnSpc>
            </a:pPr>
            <a:r>
              <a:rPr lang="en-US" sz="3099" spc="30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ALTER COLLATION = modifica regras de ordenação de texto.</a:t>
            </a:r>
          </a:p>
          <a:p>
            <a:pPr algn="ctr">
              <a:lnSpc>
                <a:spcPts val="4277"/>
              </a:lnSpc>
            </a:pPr>
            <a:r>
              <a:rPr lang="en-US" sz="3099" spc="30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ALTER DOMAIN = altera domínios (tipos definidos pelo usuário).</a:t>
            </a:r>
          </a:p>
          <a:p>
            <a:pPr algn="ctr">
              <a:lnSpc>
                <a:spcPts val="4277"/>
              </a:lnSpc>
              <a:spcBef>
                <a:spcPct val="0"/>
              </a:spcBef>
            </a:pPr>
            <a:r>
              <a:rPr lang="en-US" sz="3099" spc="30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ALTER FOREIGN DATA WRAPPER = gerencia conectores para dados externos.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60779" y="326731"/>
            <a:ext cx="9966442" cy="940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3"/>
              </a:lnSpc>
              <a:spcBef>
                <a:spcPct val="0"/>
              </a:spcBef>
            </a:pPr>
            <a:r>
              <a:rPr lang="en-US" b="true" sz="5524" spc="541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COMANDOS ESPECÍFICOS:</a:t>
            </a:r>
          </a:p>
        </p:txBody>
      </p:sp>
    </p:spTree>
  </p:cSld>
  <p:clrMapOvr>
    <a:masterClrMapping/>
  </p:clrMapOvr>
  <p:transition spd="fast">
    <p:cover dir="d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39462" y="-6523121"/>
            <a:ext cx="12110389" cy="12426705"/>
          </a:xfrm>
          <a:custGeom>
            <a:avLst/>
            <a:gdLst/>
            <a:ahLst/>
            <a:cxnLst/>
            <a:rect r="r" b="b" t="t" l="l"/>
            <a:pathLst>
              <a:path h="12426705" w="12110389">
                <a:moveTo>
                  <a:pt x="0" y="0"/>
                </a:moveTo>
                <a:lnTo>
                  <a:pt x="12110389" y="0"/>
                </a:lnTo>
                <a:lnTo>
                  <a:pt x="12110389" y="12426705"/>
                </a:lnTo>
                <a:lnTo>
                  <a:pt x="0" y="1242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986589">
            <a:off x="14535176" y="-3994863"/>
            <a:ext cx="9894000" cy="10152425"/>
          </a:xfrm>
          <a:custGeom>
            <a:avLst/>
            <a:gdLst/>
            <a:ahLst/>
            <a:cxnLst/>
            <a:rect r="r" b="b" t="t" l="l"/>
            <a:pathLst>
              <a:path h="10152425" w="9894000">
                <a:moveTo>
                  <a:pt x="0" y="0"/>
                </a:moveTo>
                <a:lnTo>
                  <a:pt x="9894000" y="0"/>
                </a:lnTo>
                <a:lnTo>
                  <a:pt x="9894000" y="10152426"/>
                </a:lnTo>
                <a:lnTo>
                  <a:pt x="0" y="10152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92011" y="948000"/>
            <a:ext cx="10906040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VIDEO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38580" y="4277995"/>
            <a:ext cx="11210840" cy="161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4" tooltip="https://youtube.com/shorts/RctRuV8hObw?si=5Kx89Pml05UqQY5J"/>
              </a:rPr>
              <a:t>https://youtube.com/shorts/RctRuV8hObw?si=5Kx89Pml05UqQY5J</a:t>
            </a:r>
          </a:p>
        </p:txBody>
      </p:sp>
    </p:spTree>
  </p:cSld>
  <p:clrMapOvr>
    <a:masterClrMapping/>
  </p:clrMapOvr>
  <p:transition spd="fast">
    <p:cover dir="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06791" y="2226568"/>
            <a:ext cx="13474418" cy="662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7"/>
              </a:lnSpc>
            </a:pPr>
            <a:r>
              <a:rPr lang="en-US" sz="2556" spc="250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https://www-postgresql.org</a:t>
            </a:r>
          </a:p>
          <a:p>
            <a:pPr algn="ctr">
              <a:lnSpc>
                <a:spcPts val="3527"/>
              </a:lnSpc>
            </a:pPr>
          </a:p>
          <a:p>
            <a:pPr algn="ctr">
              <a:lnSpc>
                <a:spcPts val="3527"/>
              </a:lnSpc>
            </a:pPr>
            <a:r>
              <a:rPr lang="en-US" sz="2556" spc="250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https://www.hashtagtreinamentos.com/instalacao-do-postgresql-sql</a:t>
            </a:r>
          </a:p>
          <a:p>
            <a:pPr algn="ctr">
              <a:lnSpc>
                <a:spcPts val="3527"/>
              </a:lnSpc>
            </a:pPr>
          </a:p>
          <a:p>
            <a:pPr algn="ctr">
              <a:lnSpc>
                <a:spcPts val="3527"/>
              </a:lnSpc>
            </a:pPr>
            <a:r>
              <a:rPr lang="en-US" sz="2556" spc="250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https://www.postgresql.org/docs/current/sql-commands.html</a:t>
            </a:r>
          </a:p>
          <a:p>
            <a:pPr algn="ctr">
              <a:lnSpc>
                <a:spcPts val="3527"/>
              </a:lnSpc>
            </a:pPr>
          </a:p>
          <a:p>
            <a:pPr algn="ctr">
              <a:lnSpc>
                <a:spcPts val="3527"/>
              </a:lnSpc>
            </a:pPr>
            <a:r>
              <a:rPr lang="en-US" sz="2556" spc="250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https://learnsql.com.br/blog/os-comandos-mais-comuns-do-postgresql-um-guia-para-iniciantes/</a:t>
            </a:r>
          </a:p>
          <a:p>
            <a:pPr algn="ctr">
              <a:lnSpc>
                <a:spcPts val="3527"/>
              </a:lnSpc>
            </a:pPr>
          </a:p>
          <a:p>
            <a:pPr algn="ctr">
              <a:lnSpc>
                <a:spcPts val="3527"/>
              </a:lnSpc>
            </a:pPr>
            <a:r>
              <a:rPr lang="en-US" sz="2556" spc="250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https://www.devmedia.com.br/principais-comandos-sql-com-postgresql/23366</a:t>
            </a:r>
          </a:p>
          <a:p>
            <a:pPr algn="ctr">
              <a:lnSpc>
                <a:spcPts val="3527"/>
              </a:lnSpc>
            </a:pPr>
          </a:p>
          <a:p>
            <a:pPr algn="ctr">
              <a:lnSpc>
                <a:spcPts val="3527"/>
              </a:lnSpc>
            </a:pPr>
            <a:r>
              <a:rPr lang="en-US" sz="2556" spc="250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https://www.tecspace.com.br</a:t>
            </a:r>
          </a:p>
          <a:p>
            <a:pPr algn="ctr">
              <a:lnSpc>
                <a:spcPts val="3527"/>
              </a:lnSpc>
            </a:pPr>
          </a:p>
          <a:p>
            <a:pPr algn="ctr" marL="0" indent="0" lvl="0">
              <a:lnSpc>
                <a:spcPts val="3527"/>
              </a:lnSpc>
              <a:spcBef>
                <a:spcPct val="0"/>
              </a:spcBef>
            </a:pPr>
            <a:r>
              <a:rPr lang="en-US" sz="2556" spc="250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https://timbira.com.br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11587" y="506058"/>
            <a:ext cx="10464826" cy="940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3"/>
              </a:lnSpc>
              <a:spcBef>
                <a:spcPct val="0"/>
              </a:spcBef>
            </a:pPr>
            <a:r>
              <a:rPr lang="en-US" b="true" sz="5524" spc="541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REFERÊNCIAS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6672119" y="-8155978"/>
            <a:ext cx="12110389" cy="12426705"/>
          </a:xfrm>
          <a:custGeom>
            <a:avLst/>
            <a:gdLst/>
            <a:ahLst/>
            <a:cxnLst/>
            <a:rect r="r" b="b" t="t" l="l"/>
            <a:pathLst>
              <a:path h="12426705" w="12110389">
                <a:moveTo>
                  <a:pt x="0" y="0"/>
                </a:moveTo>
                <a:lnTo>
                  <a:pt x="12110389" y="0"/>
                </a:lnTo>
                <a:lnTo>
                  <a:pt x="12110389" y="12426705"/>
                </a:lnTo>
                <a:lnTo>
                  <a:pt x="0" y="1242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986589">
            <a:off x="14502519" y="-5627720"/>
            <a:ext cx="9894000" cy="10152425"/>
          </a:xfrm>
          <a:custGeom>
            <a:avLst/>
            <a:gdLst/>
            <a:ahLst/>
            <a:cxnLst/>
            <a:rect r="r" b="b" t="t" l="l"/>
            <a:pathLst>
              <a:path h="10152425" w="9894000">
                <a:moveTo>
                  <a:pt x="0" y="0"/>
                </a:moveTo>
                <a:lnTo>
                  <a:pt x="9894000" y="0"/>
                </a:lnTo>
                <a:lnTo>
                  <a:pt x="9894000" y="10152425"/>
                </a:lnTo>
                <a:lnTo>
                  <a:pt x="0" y="101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11587" y="699871"/>
            <a:ext cx="10464826" cy="940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3"/>
              </a:lnSpc>
              <a:spcBef>
                <a:spcPct val="0"/>
              </a:spcBef>
            </a:pPr>
            <a:r>
              <a:rPr lang="en-US" b="true" sz="5524" spc="541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REFERÊNCIAS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41955" y="2863900"/>
            <a:ext cx="12404089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2F4F5"/>
                </a:solidFill>
                <a:latin typeface="Open Sans"/>
                <a:ea typeface="Open Sans"/>
                <a:cs typeface="Open Sans"/>
                <a:sym typeface="Open Sans"/>
              </a:rPr>
              <a:t>https://oul.com.br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2F4F5"/>
                </a:solidFill>
                <a:latin typeface="Open Sans"/>
                <a:ea typeface="Open Sans"/>
                <a:cs typeface="Open Sans"/>
                <a:sym typeface="Open Sans"/>
              </a:rPr>
              <a:t>https://www.driven.com.br/blog/postgre-sql/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2F4F5"/>
                </a:solidFill>
                <a:latin typeface="Open Sans"/>
                <a:ea typeface="Open Sans"/>
                <a:cs typeface="Open Sans"/>
                <a:sym typeface="Open Sans"/>
              </a:rPr>
              <a:t>https://halleyoliv.gitlab.io/pgdocptbr/sql-commands.html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2F4F5"/>
                </a:solidFill>
                <a:latin typeface="Open Sans"/>
                <a:ea typeface="Open Sans"/>
                <a:cs typeface="Open Sans"/>
                <a:sym typeface="Open Sans"/>
              </a:rPr>
              <a:t>https://www.postgresql.org/docs/current/sql-commands.html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6672119" y="-8155978"/>
            <a:ext cx="12110389" cy="12426705"/>
          </a:xfrm>
          <a:custGeom>
            <a:avLst/>
            <a:gdLst/>
            <a:ahLst/>
            <a:cxnLst/>
            <a:rect r="r" b="b" t="t" l="l"/>
            <a:pathLst>
              <a:path h="12426705" w="12110389">
                <a:moveTo>
                  <a:pt x="0" y="0"/>
                </a:moveTo>
                <a:lnTo>
                  <a:pt x="12110389" y="0"/>
                </a:lnTo>
                <a:lnTo>
                  <a:pt x="12110389" y="12426705"/>
                </a:lnTo>
                <a:lnTo>
                  <a:pt x="0" y="1242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986589">
            <a:off x="14502519" y="-5627720"/>
            <a:ext cx="9894000" cy="10152425"/>
          </a:xfrm>
          <a:custGeom>
            <a:avLst/>
            <a:gdLst/>
            <a:ahLst/>
            <a:cxnLst/>
            <a:rect r="r" b="b" t="t" l="l"/>
            <a:pathLst>
              <a:path h="10152425" w="9894000">
                <a:moveTo>
                  <a:pt x="0" y="0"/>
                </a:moveTo>
                <a:lnTo>
                  <a:pt x="9894000" y="0"/>
                </a:lnTo>
                <a:lnTo>
                  <a:pt x="9894000" y="10152425"/>
                </a:lnTo>
                <a:lnTo>
                  <a:pt x="0" y="101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11587" y="4032885"/>
            <a:ext cx="10464826" cy="20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60"/>
              </a:lnSpc>
              <a:spcBef>
                <a:spcPct val="0"/>
              </a:spcBef>
            </a:pPr>
            <a:r>
              <a:rPr lang="en-US" b="true" sz="12000" spc="1176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OBRIGADO!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6672119" y="-8155978"/>
            <a:ext cx="12110389" cy="12426705"/>
          </a:xfrm>
          <a:custGeom>
            <a:avLst/>
            <a:gdLst/>
            <a:ahLst/>
            <a:cxnLst/>
            <a:rect r="r" b="b" t="t" l="l"/>
            <a:pathLst>
              <a:path h="12426705" w="12110389">
                <a:moveTo>
                  <a:pt x="0" y="0"/>
                </a:moveTo>
                <a:lnTo>
                  <a:pt x="12110389" y="0"/>
                </a:lnTo>
                <a:lnTo>
                  <a:pt x="12110389" y="12426705"/>
                </a:lnTo>
                <a:lnTo>
                  <a:pt x="0" y="1242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986589">
            <a:off x="14502519" y="-5627720"/>
            <a:ext cx="9894000" cy="10152425"/>
          </a:xfrm>
          <a:custGeom>
            <a:avLst/>
            <a:gdLst/>
            <a:ahLst/>
            <a:cxnLst/>
            <a:rect r="r" b="b" t="t" l="l"/>
            <a:pathLst>
              <a:path h="10152425" w="9894000">
                <a:moveTo>
                  <a:pt x="0" y="0"/>
                </a:moveTo>
                <a:lnTo>
                  <a:pt x="9894000" y="0"/>
                </a:lnTo>
                <a:lnTo>
                  <a:pt x="9894000" y="10152425"/>
                </a:lnTo>
                <a:lnTo>
                  <a:pt x="0" y="101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8304976" y="3837214"/>
            <a:ext cx="12110389" cy="12426705"/>
          </a:xfrm>
          <a:custGeom>
            <a:avLst/>
            <a:gdLst/>
            <a:ahLst/>
            <a:cxnLst/>
            <a:rect r="r" b="b" t="t" l="l"/>
            <a:pathLst>
              <a:path h="12426705" w="12110389">
                <a:moveTo>
                  <a:pt x="0" y="0"/>
                </a:moveTo>
                <a:lnTo>
                  <a:pt x="12110389" y="0"/>
                </a:lnTo>
                <a:lnTo>
                  <a:pt x="12110389" y="12426705"/>
                </a:lnTo>
                <a:lnTo>
                  <a:pt x="0" y="1242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986589">
            <a:off x="12869662" y="6365472"/>
            <a:ext cx="9894000" cy="10152425"/>
          </a:xfrm>
          <a:custGeom>
            <a:avLst/>
            <a:gdLst/>
            <a:ahLst/>
            <a:cxnLst/>
            <a:rect r="r" b="b" t="t" l="l"/>
            <a:pathLst>
              <a:path h="10152425" w="9894000">
                <a:moveTo>
                  <a:pt x="0" y="0"/>
                </a:moveTo>
                <a:lnTo>
                  <a:pt x="9894000" y="0"/>
                </a:lnTo>
                <a:lnTo>
                  <a:pt x="9894000" y="10152426"/>
                </a:lnTo>
                <a:lnTo>
                  <a:pt x="0" y="10152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DAG5v6utLIk</dc:identifier>
  <dcterms:modified xsi:type="dcterms:W3CDTF">2011-08-01T06:04:30Z</dcterms:modified>
  <cp:revision>1</cp:revision>
  <dc:title>PostgreSQL</dc:title>
</cp:coreProperties>
</file>